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286000"/>
            <a:ext cx="164592" cy="2286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488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3FB950"/>
                </a:solidFill>
                <a:latin typeface="Helvetica Neue"/>
              </a:rPr>
              <a:t>AVALIAÇÃO P2 · ENGENHARIA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0604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E6EDF3"/>
                </a:solidFill>
                <a:latin typeface="Helvetica Neue"/>
              </a:rPr>
              <a:t>ICEV Remote Sensing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6576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9AA8B6"/>
                </a:solidFill>
                <a:latin typeface="Helvetica Neue"/>
              </a:rPr>
              <a:t>Plataforma Web de Sensoriamento Remoto para Agricultura de Precisão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9377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3FB950"/>
                </a:solidFill>
                <a:latin typeface="Helvetica Neue"/>
              </a:rPr>
              <a:t>Equipe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2578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Helvetica Neue"/>
              </a:rPr>
              <a:t>Luis Gustavo Olimpio · Lauan Matheus · João Leonardi · João Vinícius Castello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321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Helvetica Neue"/>
              </a:rPr>
              <a:t>Vinícius Henrique · Lucas Benevinuto · José Melquíades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8B6"/>
                </a:solidFill>
                <a:latin typeface="Helvetica Neue"/>
              </a:rPr>
              <a:t>Maio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164592" cy="4572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3FB950"/>
                </a:solidFill>
                <a:latin typeface="Helvetica Neue"/>
              </a:rPr>
              <a:t>ROTEIRO DE 20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Helvetica Neue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515600" cy="45720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Helvetica Neue"/>
              </a:rPr>
              <a:t>•  Problema e contexto — agricultura de precisão no Brasil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Helvetica Neue"/>
              </a:rPr>
              <a:t>•  Solução — visão geral do produto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Helvetica Neue"/>
              </a:rPr>
              <a:t>•  Backlog priorizado e funcionalidades do MVP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Helvetica Neue"/>
              </a:rPr>
              <a:t>•  Arquitetura — frontend, backend, dados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Helvetica Neue"/>
              </a:rPr>
              <a:t>•  Tecnologias e decisões de design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Helvetica Neue"/>
              </a:rPr>
              <a:t>•  Demonstração ao vivo (NDVI, 3D, classificação)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Helvetica Neue"/>
              </a:rPr>
              <a:t>•  Estratégia de testes e resultados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Helvetica Neue"/>
              </a:rPr>
              <a:t>•  Encerramento, próximos passos e dúvidas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6"/>
                </a:solidFill>
                <a:latin typeface="Helvetica Neue"/>
              </a:rPr>
              <a:t>ICEV Remote Sensing Software · P2 Engenharia de Software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8B6"/>
                </a:solidFill>
                <a:latin typeface="Helvetica Neue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164592" cy="4572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3FB950"/>
                </a:solidFill>
                <a:latin typeface="Helvetica Neue"/>
              </a:rPr>
              <a:t>POR QUE EXISTIR?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Helvetica Neue"/>
              </a:rPr>
              <a:t>O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E6EDF3"/>
                </a:solidFill>
                <a:latin typeface="Helvetica Neue"/>
              </a:rPr>
              <a:t>Monitorar saúde de culturas é caro, complexo e fragmentado.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468880"/>
            <a:ext cx="10515600" cy="3291840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97480"/>
            <a:ext cx="10058400" cy="29260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  <a:latin typeface="Helvetica Neue"/>
              </a:rPr>
              <a:t>•  Softwares GIS comerciais (ArcGIS, ENVI) custam milhares de R$ por ano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  <a:latin typeface="Helvetica Neue"/>
              </a:rPr>
              <a:t>•  Ferramentas profissionais exigem treinamento especializado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  <a:latin typeface="Helvetica Neue"/>
              </a:rPr>
              <a:t>•  Ausência de soluções integradas: visualização + análise + classificação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  <a:latin typeface="Helvetica Neue"/>
              </a:rPr>
              <a:t>•  Imagens Sentinel-2 (gratuitas, 10 m, revisita 5 dias) são subutilizadas no Brasil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  <a:latin typeface="Helvetica Neue"/>
              </a:rPr>
              <a:t>•  Decisões tardias = perdas de produtividade e custos operacionais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6"/>
                </a:solidFill>
                <a:latin typeface="Helvetica Neue"/>
              </a:rPr>
              <a:t>ICEV Remote Sensing Software · P2 Engenharia de Software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8B6"/>
                </a:solidFill>
                <a:latin typeface="Helvetica Neue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164592" cy="4572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3FB950"/>
                </a:solidFill>
                <a:latin typeface="Helvetica Neue"/>
              </a:rPr>
              <a:t>ICEV REMOTE SENSING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Helvetica Neue"/>
              </a:rPr>
              <a:t>A solução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E6EDF3"/>
                </a:solidFill>
                <a:latin typeface="Helvetica Neue"/>
              </a:rPr>
              <a:t>Plataforma web local que processa imagens Sentinel-2 sobre talhões e gera índices, classificações e visualizações 3D — sem custo de licenciamento.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926080"/>
            <a:ext cx="3108960" cy="1554480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1089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3FB950"/>
                </a:solidFill>
                <a:latin typeface="Helvetica Neue"/>
              </a:rPr>
              <a:t>Importar Talhões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52044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8B6"/>
                </a:solidFill>
                <a:latin typeface="Helvetica Neue"/>
              </a:rPr>
              <a:t>KML do Google Earth ou desenho direto no mapa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2926080"/>
            <a:ext cx="3108960" cy="1554480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31089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3FB950"/>
                </a:solidFill>
                <a:latin typeface="Helvetica Neue"/>
              </a:rPr>
              <a:t>Calcular Índices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352044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8B6"/>
                </a:solidFill>
                <a:latin typeface="Helvetica Neue"/>
              </a:rPr>
              <a:t>NDVI · EVI · SAVI · NDWI · NDBI + 13 bandas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2926080"/>
            <a:ext cx="3108960" cy="1554480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2360" y="31089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3FB950"/>
                </a:solidFill>
                <a:latin typeface="Helvetica Neue"/>
              </a:rPr>
              <a:t>Classificar Zonas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352044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8B6"/>
                </a:solidFill>
                <a:latin typeface="Helvetica Neue"/>
              </a:rPr>
              <a:t>K-Means · Threshold · Supervisionada simulada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572000"/>
            <a:ext cx="3108960" cy="1554480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7548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3FB950"/>
                </a:solidFill>
                <a:latin typeface="Helvetica Neue"/>
              </a:rPr>
              <a:t>Visualizar em 3D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16636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8B6"/>
                </a:solidFill>
                <a:latin typeface="Helvetica Neue"/>
              </a:rPr>
              <a:t>Renderização Three.js com elevação por valor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6"/>
                </a:solidFill>
                <a:latin typeface="Helvetica Neue"/>
              </a:rPr>
              <a:t>ICEV Remote Sensing Software · P2 Engenharia de Software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8B6"/>
                </a:solidFill>
                <a:latin typeface="Helvetica Neue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164592" cy="4572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3FB950"/>
                </a:solidFill>
                <a:latin typeface="Helvetica Neue"/>
              </a:rPr>
              <a:t>USUÁRIOS-ALVO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Helvetica Neue"/>
              </a:rPr>
              <a:t>Para quem é?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91640"/>
            <a:ext cx="10515600" cy="914400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3FB950"/>
                </a:solidFill>
                <a:latin typeface="Helvetica Neue"/>
              </a:rPr>
              <a:t>Produtor Rural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856232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Helvetica Neue"/>
              </a:rPr>
              <a:t>Monitorar lavouras, identificar áreas de estresse, otimizar insumos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697480"/>
            <a:ext cx="10515600" cy="914400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3FB950"/>
                </a:solidFill>
                <a:latin typeface="Helvetica Neue"/>
              </a:rPr>
              <a:t>Agrônomo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862072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Helvetica Neue"/>
              </a:rPr>
              <a:t>Mapas de variabilidade, prescrição de insumos, análise de vigor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703320"/>
            <a:ext cx="10515600" cy="914400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8404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3FB950"/>
                </a:solidFill>
                <a:latin typeface="Helvetica Neue"/>
              </a:rPr>
              <a:t>Pesquisador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867912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Helvetica Neue"/>
              </a:rPr>
              <a:t>Experimentar algoritmos sobre dados reais, comparar índices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709160"/>
            <a:ext cx="10515600" cy="914400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8463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3FB950"/>
                </a:solidFill>
                <a:latin typeface="Helvetica Neue"/>
              </a:rPr>
              <a:t>Estudante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4873752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Helvetica Neue"/>
              </a:rPr>
              <a:t>Aprender sensoriamento remoto na prática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6"/>
                </a:solidFill>
                <a:latin typeface="Helvetica Neue"/>
              </a:rPr>
              <a:t>ICEV Remote Sensing Software · P2 Engenharia de Software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8B6"/>
                </a:solidFill>
                <a:latin typeface="Helvetica Neue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164592" cy="4572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3FB950"/>
                </a:solidFill>
                <a:latin typeface="Helvetica Neue"/>
              </a:rPr>
              <a:t>6 ÉPICOS · 33 HISTÓRIAS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Helvetica Neue"/>
              </a:rPr>
              <a:t>Backlog priorizado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515600" cy="36576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E6EDF3"/>
                </a:solidFill>
                <a:latin typeface="Helvetica Neue"/>
              </a:rPr>
              <a:t>•  Épico 1 — Gestão de Talhões (KML, mapa, desenho)              · 6 histórias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E6EDF3"/>
                </a:solidFill>
                <a:latin typeface="Helvetica Neue"/>
              </a:rPr>
              <a:t>•  Épico 2 — Índices Espectrais (NDVI/EVI/SAVI/NDWI/NDBI/bandas) · 9 histórias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E6EDF3"/>
                </a:solidFill>
                <a:latin typeface="Helvetica Neue"/>
              </a:rPr>
              <a:t>•  Épico 3 — Visualização &amp; Mapa Interativo (2D, 3D, popup)      · 5 histórias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E6EDF3"/>
                </a:solidFill>
                <a:latin typeface="Helvetica Neue"/>
              </a:rPr>
              <a:t>•  Épico 4 — Lab. de Experimentos (filtros, bordas, morfologia)  · 6 histórias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E6EDF3"/>
                </a:solidFill>
                <a:latin typeface="Helvetica Neue"/>
              </a:rPr>
              <a:t>•  Épico 5 — Classificação (K-Means, Threshold, Supervisionada)  · 6 histórias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E6EDF3"/>
                </a:solidFill>
                <a:latin typeface="Helvetica Neue"/>
              </a:rPr>
              <a:t>•  Épico 6 — Gestão de Dados Sentinel-2 (multi-produto)          · 1 história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5029200"/>
            <a:ext cx="10515600" cy="1097280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212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3FB950"/>
                </a:solidFill>
                <a:latin typeface="Helvetica Neue"/>
              </a:rPr>
              <a:t>MVP entregue: 28 das 33 histórias (84,8%)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5321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8B6"/>
                </a:solidFill>
                <a:latin typeface="Helvetica Neue"/>
              </a:rPr>
              <a:t>Pendentes: persistência de talhões desenhados · classificação supervisionada real · exportação de experimentos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6"/>
                </a:solidFill>
                <a:latin typeface="Helvetica Neue"/>
              </a:rPr>
              <a:t>ICEV Remote Sensing Software · P2 Engenharia de Software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8B6"/>
                </a:solidFill>
                <a:latin typeface="Helvetica Neue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164592" cy="4572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3FB950"/>
                </a:solidFill>
                <a:latin typeface="Helvetica Neue"/>
              </a:rPr>
              <a:t>VISÃO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Helvetica Neue"/>
              </a:rPr>
              <a:t>Arquitetura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91640"/>
            <a:ext cx="5212080" cy="2194560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3FB950"/>
                </a:solidFill>
                <a:latin typeface="Helvetica Neue"/>
              </a:rPr>
              <a:t>FRONTEND · porta 3000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945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Helvetica Neue"/>
              </a:rPr>
              <a:t>Next.js 16 · React 19 · TypeScript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97480"/>
            <a:ext cx="4846320" cy="11887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E6EDF3"/>
                </a:solidFill>
                <a:latin typeface="Helvetica Neue"/>
              </a:rPr>
              <a:t>•  Mapa Leaflet 2D + leaflet-draw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E6EDF3"/>
                </a:solidFill>
                <a:latin typeface="Helvetica Neue"/>
              </a:rPr>
              <a:t>•  Three.js / @react-three/fiber (3D)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E6EDF3"/>
                </a:solidFill>
                <a:latin typeface="Helvetica Neue"/>
              </a:rPr>
              <a:t>•  shadcn/ui + Tailwind CSS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91640"/>
            <a:ext cx="5212080" cy="2194560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8288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3FB950"/>
                </a:solidFill>
                <a:latin typeface="Helvetica Neue"/>
              </a:rPr>
              <a:t>BACKEND · porta 8000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945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Helvetica Neue"/>
              </a:rPr>
              <a:t>FastAPI + Uvicorn · Python 3.12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697480"/>
            <a:ext cx="4846320" cy="11887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E6EDF3"/>
                </a:solidFill>
                <a:latin typeface="Helvetica Neue"/>
              </a:rPr>
              <a:t>•  rasterio (JP2 Sentinel-2)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E6EDF3"/>
                </a:solidFill>
                <a:latin typeface="Helvetica Neue"/>
              </a:rPr>
              <a:t>•  NumPy · SciPy · scikit-learn · OpenCV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E6EDF3"/>
                </a:solidFill>
                <a:latin typeface="Helvetica Neue"/>
              </a:rPr>
              <a:t>•  Shapely · pyproj (geometria, reprojeção)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114800"/>
            <a:ext cx="10607040" cy="1645920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2519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3FB950"/>
                </a:solidFill>
                <a:latin typeface="Helvetica Neue"/>
              </a:rPr>
              <a:t>DADOS LOCAIS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617720"/>
            <a:ext cx="10058400" cy="10972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E6EDF3"/>
                </a:solidFill>
                <a:latin typeface="Helvetica Neue"/>
              </a:rPr>
              <a:t>•  data/products/  →  Sentinel-2 .SAFE (granules em R10m, R20m, R60m)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E6EDF3"/>
                </a:solidFill>
                <a:latin typeface="Helvetica Neue"/>
              </a:rPr>
              <a:t>•  data/KML Fields/  →  polígonos de talhões (KML do Google Earth)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60350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AA8B6"/>
                </a:solidFill>
                <a:latin typeface="Helvetica Neue"/>
              </a:rPr>
              <a:t>Comunicação REST/JSON · imagens em base64 · sem banco de dados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6"/>
                </a:solidFill>
                <a:latin typeface="Helvetica Neue"/>
              </a:rPr>
              <a:t>ICEV Remote Sensing Software · P2 Engenharia de Software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8B6"/>
                </a:solidFill>
                <a:latin typeface="Helvetica Neue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164592" cy="4572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3FB950"/>
                </a:solidFill>
                <a:latin typeface="Helvetica Neue"/>
              </a:rPr>
              <a:t>POR QUE ESCOLHEMOS CADA UMA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Helvetica Neue"/>
              </a:rPr>
              <a:t>Stack tecnológica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91640"/>
            <a:ext cx="10515600" cy="594360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01368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3FB950"/>
                </a:solidFill>
                <a:latin typeface="Helvetica Neue"/>
              </a:rPr>
              <a:t>FastAPI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810512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  <a:latin typeface="Helvetica Neue"/>
              </a:rPr>
              <a:t>Validação Pydantic automática, OpenAPI grátis, async nativo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350008"/>
            <a:ext cx="10515600" cy="594360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59736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3FB950"/>
                </a:solidFill>
                <a:latin typeface="Helvetica Neue"/>
              </a:rPr>
              <a:t>rasterio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46888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  <a:latin typeface="Helvetica Neue"/>
              </a:rPr>
              <a:t>Padrão de fato em I/O geoespacial Python (wrapper sobre GDAL)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008376"/>
            <a:ext cx="10515600" cy="594360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118104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3FB950"/>
                </a:solidFill>
                <a:latin typeface="Helvetica Neue"/>
              </a:rPr>
              <a:t>Next.js 16 + React 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3127248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  <a:latin typeface="Helvetica Neue"/>
              </a:rPr>
              <a:t>App Router unifica páginas e rotas API server-side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666744"/>
            <a:ext cx="10515600" cy="594360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776472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3FB950"/>
                </a:solidFill>
                <a:latin typeface="Helvetica Neue"/>
              </a:rPr>
              <a:t>Leaflet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3785615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  <a:latin typeface="Helvetica Neue"/>
              </a:rPr>
              <a:t>Maduro, leve, integra com Esri/OSM sem token pago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325112"/>
            <a:ext cx="10515600" cy="594360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43484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3FB950"/>
                </a:solidFill>
                <a:latin typeface="Helvetica Neue"/>
              </a:rPr>
              <a:t>Three.js / R3F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4443983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  <a:latin typeface="Helvetica Neue"/>
              </a:rPr>
              <a:t>Visualização 3D nativa em WebGL, sem peso de Cesium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983479"/>
            <a:ext cx="10515600" cy="594360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093207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3FB950"/>
                </a:solidFill>
                <a:latin typeface="Helvetica Neue"/>
              </a:rPr>
              <a:t>Tailwind + shadcn/ui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5102351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  <a:latin typeface="Helvetica Neue"/>
              </a:rPr>
              <a:t>Componentes acessíveis (Radix), zero CSS-in-JS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5641847"/>
            <a:ext cx="10515600" cy="594360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751575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3FB950"/>
                </a:solidFill>
                <a:latin typeface="Helvetica Neue"/>
              </a:rPr>
              <a:t>uv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5760719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6EDF3"/>
                </a:solidFill>
                <a:latin typeface="Helvetica Neue"/>
              </a:rPr>
              <a:t>Build reprodutível e ~10× mais rápido que pip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6"/>
                </a:solidFill>
                <a:latin typeface="Helvetica Neue"/>
              </a:rPr>
              <a:t>ICEV Remote Sensing Software · P2 Engenharia de Software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8B6"/>
                </a:solidFill>
                <a:latin typeface="Helvetica Neue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164592" cy="4572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3FB950"/>
                </a:solidFill>
                <a:latin typeface="Helvetica Neue"/>
              </a:rPr>
              <a:t>TRADE-OFFS EXPLÍCITOS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Helvetica Neue"/>
              </a:rPr>
              <a:t>Decisões de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45920"/>
            <a:ext cx="10515600" cy="713232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373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3FB950"/>
                </a:solidFill>
                <a:latin typeface="Helvetica Neue"/>
              </a:rPr>
              <a:t>DA-01 · Frontend e backend em processos separados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2996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8B6"/>
                </a:solidFill>
                <a:latin typeface="Helvetica Neue"/>
              </a:rPr>
              <a:t>Permite que o processamento Python pesado não bloqueie a 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423160"/>
            <a:ext cx="10515600" cy="713232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514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3FB950"/>
                </a:solidFill>
                <a:latin typeface="Helvetica Neue"/>
              </a:rPr>
              <a:t>DA-02 · Imagens via base64 dentro do 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0720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8B6"/>
                </a:solidFill>
                <a:latin typeface="Helvetica Neue"/>
              </a:rPr>
              <a:t>API simples, uma resposta = todos os dados; trade-off: +33% de tamanho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200400"/>
            <a:ext cx="10515600" cy="713232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2918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3FB950"/>
                </a:solidFill>
                <a:latin typeface="Helvetica Neue"/>
              </a:rPr>
              <a:t>DA-04 · Reprojeção dinâmica (WGS84 → UTM)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5844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8B6"/>
                </a:solidFill>
                <a:latin typeface="Helvetica Neue"/>
              </a:rPr>
              <a:t>Frontend trabalha em lat/lon, backend trata projeções via pyproj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977639"/>
            <a:ext cx="10515600" cy="713232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06907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3FB950"/>
                </a:solidFill>
                <a:latin typeface="Helvetica Neue"/>
              </a:rPr>
              <a:t>DA-06 · SentinelProcessor isolado das rotas HTTP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36168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8B6"/>
                </a:solidFill>
                <a:latin typeface="Helvetica Neue"/>
              </a:rPr>
              <a:t>Permite testes unitários sem subir o servidor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754879"/>
            <a:ext cx="10515600" cy="713232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84631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3FB950"/>
                </a:solidFill>
                <a:latin typeface="Helvetica Neue"/>
              </a:rPr>
              <a:t>DA-07 · Tipagem end-to-end (TS + Pydantic)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138927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8B6"/>
                </a:solidFill>
                <a:latin typeface="Helvetica Neue"/>
              </a:rPr>
              <a:t>Erros de contrato detectados em build, não em produção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5532119"/>
            <a:ext cx="10515600" cy="713232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62355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3FB950"/>
                </a:solidFill>
                <a:latin typeface="Helvetica Neue"/>
              </a:rPr>
              <a:t>DA-09 · Suavização gaussiana com máscara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916167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8B6"/>
                </a:solidFill>
                <a:latin typeface="Helvetica Neue"/>
              </a:rPr>
              <a:t>Evita 'sangramento' de valores nas bordas do polígono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6"/>
                </a:solidFill>
                <a:latin typeface="Helvetica Neue"/>
              </a:rPr>
              <a:t>ICEV Remote Sensing Software · P2 Engenharia de Software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8B6"/>
                </a:solidFill>
                <a:latin typeface="Helvetica Neue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164592" cy="4572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3FB950"/>
                </a:solidFill>
                <a:latin typeface="Helvetica Neue"/>
              </a:rPr>
              <a:t>DIAGRAMA DE SEQUÊNCIA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Helvetica Neue"/>
              </a:rPr>
              <a:t>Fluxo de cálculo de NDVI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3FB950"/>
                </a:solidFill>
                <a:latin typeface="Helvetica Neue"/>
              </a:rP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916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Helvetica Neue"/>
              </a:rPr>
              <a:t>Usuário seleciona talhão e índice 'NDVI' na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3FB950"/>
                </a:solidFill>
                <a:latin typeface="Helvetica Neue"/>
              </a:rP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031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Helvetica Neue"/>
              </a:rPr>
              <a:t>Frontend envia POST /calculate-index com coordenadas WGS84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146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3FB950"/>
                </a:solidFill>
                <a:latin typeface="Helvetica Neue"/>
              </a:rPr>
              <a:t>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514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Helvetica Neue"/>
              </a:rPr>
              <a:t>Backend resolve produto Sentinel-2 .SAFE mais recente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2608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3FB950"/>
                </a:solidFill>
                <a:latin typeface="Helvetica Neue"/>
              </a:rPr>
              <a:t>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Helvetica Neue"/>
              </a:rPr>
              <a:t>rasterio lê bandas B08 (NIR) e B04 (Red) em 10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3375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3FB950"/>
                </a:solidFill>
                <a:latin typeface="Helvetica Neue"/>
              </a:rPr>
              <a:t>5.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3375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Helvetica Neue"/>
              </a:rPr>
              <a:t>pyproj reprojeta polígono WGS84 → CRS nativo da imagem (UTM)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7490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3FB950"/>
                </a:solidFill>
                <a:latin typeface="Helvetica Neue"/>
              </a:rPr>
              <a:t>6.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7490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Helvetica Neue"/>
              </a:rPr>
              <a:t>rasterio.mask recorta as bandas ao polígono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1605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3FB950"/>
                </a:solidFill>
                <a:latin typeface="Helvetica Neue"/>
              </a:rPr>
              <a:t>7.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1605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Helvetica Neue"/>
              </a:rPr>
              <a:t>NumPy calcula NDVI = (NIR − Red) / (NIR + Red), clipa a [-1, 1]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5720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3FB950"/>
                </a:solidFill>
                <a:latin typeface="Helvetica Neue"/>
              </a:rPr>
              <a:t>8.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5720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Helvetica Neue"/>
              </a:rPr>
              <a:t>Pillow gera PNG colorido (gradiente marrom → amarelo → verde)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98348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3FB950"/>
                </a:solidFill>
                <a:latin typeface="Helvetica Neue"/>
              </a:rPr>
              <a:t>9.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9834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Helvetica Neue"/>
              </a:rPr>
              <a:t>Backend retorna JSON com base64, estatísticas, histograma e dados 3D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3949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3FB950"/>
                </a:solidFill>
                <a:latin typeface="Helvetica Neue"/>
              </a:rPr>
              <a:t>10.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394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Helvetica Neue"/>
              </a:rPr>
              <a:t>Frontend sobrepõe imagem ao mapa Leaflet + atualiza painel de stats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6"/>
                </a:solidFill>
                <a:latin typeface="Helvetica Neue"/>
              </a:rPr>
              <a:t>ICEV Remote Sensing Software · P2 Engenharia de Software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8B6"/>
                </a:solidFill>
                <a:latin typeface="Helvetica Neue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164592" cy="4572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3FB950"/>
                </a:solidFill>
                <a:latin typeface="Helvetica Neue"/>
              </a:rPr>
              <a:t>6 MINUTOS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Helvetica Neue"/>
              </a:rPr>
              <a:t>Demonstração ao vivo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91640"/>
            <a:ext cx="10515600" cy="4389120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3FB950"/>
                </a:solidFill>
                <a:latin typeface="Helvetica Neue"/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920239"/>
            <a:ext cx="9509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E6EDF3"/>
                </a:solidFill>
                <a:latin typeface="Helvetica Neue"/>
              </a:rPr>
              <a:t>Abrir http://localhost:3000  →  selecionar talhão 'crop field 1'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14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3FB950"/>
                </a:solidFill>
                <a:latin typeface="Helvetica Neue"/>
              </a:rP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560320"/>
            <a:ext cx="9509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E6EDF3"/>
                </a:solidFill>
                <a:latin typeface="Helvetica Neue"/>
              </a:rPr>
              <a:t>Calcular NDVI  →  ver overlay colorido + stats + histograma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1546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3FB950"/>
                </a:solidFill>
                <a:latin typeface="Helvetica Neue"/>
              </a:rP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200400"/>
            <a:ext cx="9509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E6EDF3"/>
                </a:solidFill>
                <a:latin typeface="Helvetica Neue"/>
              </a:rPr>
              <a:t>Clicar no mapa  →  popup com nível de estresse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7947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3FB950"/>
                </a:solidFill>
                <a:latin typeface="Helvetica Neue"/>
              </a:rPr>
              <a:t>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840480"/>
            <a:ext cx="9509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E6EDF3"/>
                </a:solidFill>
                <a:latin typeface="Helvetica Neue"/>
              </a:rPr>
              <a:t>Trocar para EVI  →  comparar resultado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348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3FB950"/>
                </a:solidFill>
                <a:latin typeface="Helvetica Neue"/>
              </a:rPr>
              <a:t>5.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480560"/>
            <a:ext cx="9509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E6EDF3"/>
                </a:solidFill>
                <a:latin typeface="Helvetica Neue"/>
              </a:rPr>
              <a:t>Ativar visualização 3D  →  rotacionar terreno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3FB950"/>
                </a:solidFill>
                <a:latin typeface="Helvetica Neue"/>
              </a:rPr>
              <a:t>6.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5120640"/>
            <a:ext cx="9509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E6EDF3"/>
                </a:solidFill>
                <a:latin typeface="Helvetica Neue"/>
              </a:rPr>
              <a:t>Ir em /classification  →  rodar K-Means com 3 classes  →  hectares por classe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6263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AA8B6"/>
                </a:solidFill>
                <a:latin typeface="Helvetica Neue"/>
              </a:rPr>
              <a:t>Caso a internet falhe, prints da execução estão em docs/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6"/>
                </a:solidFill>
                <a:latin typeface="Helvetica Neue"/>
              </a:rPr>
              <a:t>ICEV Remote Sensing Software · P2 Engenharia de Software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8B6"/>
                </a:solidFill>
                <a:latin typeface="Helvetica Neue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164592" cy="4572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3FB950"/>
                </a:solidFill>
                <a:latin typeface="Helvetica Neue"/>
              </a:rPr>
              <a:t>PLANO EM TRÊS NÍVEIS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Helvetica Neue"/>
              </a:rPr>
              <a:t>Estratégia de testes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91640"/>
            <a:ext cx="3383280" cy="2468880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74519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3FB950"/>
                </a:solidFill>
                <a:latin typeface="Helvetica Neue"/>
              </a:rPr>
              <a:t>UNITÁRIO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2402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EDF3"/>
                </a:solidFill>
                <a:latin typeface="Helvetica Neue"/>
              </a:rPr>
              <a:t>pytest + NumPy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97480"/>
            <a:ext cx="3017520" cy="13716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>
                <a:solidFill>
                  <a:srgbClr val="E6EDF3"/>
                </a:solidFill>
                <a:latin typeface="Helvetica Neue"/>
              </a:rPr>
              <a:t>•  Cálculo de NDVI / EVI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E6EDF3"/>
                </a:solidFill>
                <a:latin typeface="Helvetica Neue"/>
              </a:rPr>
              <a:t>•  Estatísticas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E6EDF3"/>
                </a:solidFill>
                <a:latin typeface="Helvetica Neue"/>
              </a:rPr>
              <a:t>•  Histograma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E6EDF3"/>
                </a:solidFill>
                <a:latin typeface="Helvetica Neue"/>
              </a:rPr>
              <a:t>•  Casos de borda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91640"/>
            <a:ext cx="3383280" cy="2468880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874519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3FB950"/>
                </a:solidFill>
                <a:latin typeface="Helvetica Neue"/>
              </a:rPr>
              <a:t>INTEGRAÇÃO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2402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EDF3"/>
                </a:solidFill>
                <a:latin typeface="Helvetica Neue"/>
              </a:rPr>
              <a:t>FastAPI TestClient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697480"/>
            <a:ext cx="3017520" cy="13716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>
                <a:solidFill>
                  <a:srgbClr val="E6EDF3"/>
                </a:solidFill>
                <a:latin typeface="Helvetica Neue"/>
              </a:rPr>
              <a:t>•  Endpoints /, /health, /products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E6EDF3"/>
                </a:solidFill>
                <a:latin typeface="Helvetica Neue"/>
              </a:rPr>
              <a:t>•  Validação Pydantic (422)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E6EDF3"/>
                </a:solidFill>
                <a:latin typeface="Helvetica Neue"/>
              </a:rPr>
              <a:t>•  Erros 400 / 404 / 500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E6EDF3"/>
                </a:solidFill>
                <a:latin typeface="Helvetica Neue"/>
              </a:rPr>
              <a:t>•  Conversão coords → polígono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691640"/>
            <a:ext cx="3383280" cy="2468880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874519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3FB950"/>
                </a:solidFill>
                <a:latin typeface="Helvetica Neue"/>
              </a:rPr>
              <a:t>MANUAL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2402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EDF3"/>
                </a:solidFill>
                <a:latin typeface="Helvetica Neue"/>
              </a:rPr>
              <a:t>Demo end-to-end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2697480"/>
            <a:ext cx="3017520" cy="13716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>
                <a:solidFill>
                  <a:srgbClr val="E6EDF3"/>
                </a:solidFill>
                <a:latin typeface="Helvetica Neue"/>
              </a:rPr>
              <a:t>•  Sentinel-2 real (1 GB)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E6EDF3"/>
                </a:solidFill>
                <a:latin typeface="Helvetica Neue"/>
              </a:rPr>
              <a:t>•  Frontend Next.js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E6EDF3"/>
                </a:solidFill>
                <a:latin typeface="Helvetica Neue"/>
              </a:rPr>
              <a:t>•  Renderização 3D</a:t>
            </a:r>
          </a:p>
          <a:p>
            <a:pPr algn="l">
              <a:spcAft>
                <a:spcPts val="800"/>
              </a:spcAft>
            </a:pPr>
            <a:r>
              <a:rPr sz="1100">
                <a:solidFill>
                  <a:srgbClr val="E6EDF3"/>
                </a:solidFill>
                <a:latin typeface="Helvetica Neue"/>
              </a:rPr>
              <a:t>•  Apresentação ao vivo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4348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9AA8B6"/>
                </a:solidFill>
                <a:latin typeface="Helvetica Neue"/>
              </a:rPr>
              <a:t>Fixtures sintéticas (NumPy) substituem produtos reais — suite roda em &lt; 1 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983480"/>
            <a:ext cx="10515600" cy="1371600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1663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8B6"/>
                </a:solidFill>
                <a:latin typeface="Helvetica Neue"/>
              </a:rPr>
              <a:t>Ver detalhes em docs/08-plano-de-testes.md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4864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3FB950"/>
                </a:solidFill>
                <a:latin typeface="Menlo"/>
              </a:rPr>
              <a:t>$ uv run pytest tests/ -v --cov=api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943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8B6"/>
                </a:solidFill>
                <a:latin typeface="Helvetica Neue"/>
              </a:rPr>
              <a:t>Comando único reproduz toda a suite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6"/>
                </a:solidFill>
                <a:latin typeface="Helvetica Neue"/>
              </a:rPr>
              <a:t>ICEV Remote Sensing Software · P2 Engenharia de Software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8B6"/>
                </a:solidFill>
                <a:latin typeface="Helvetica Neue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164592" cy="4572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3FB950"/>
                </a:solidFill>
                <a:latin typeface="Helvetica Neue"/>
              </a:rPr>
              <a:t>EXECUÇÃO DE 09/05/2026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Helvetica Neue"/>
              </a:rPr>
              <a:t>Resultados dos testes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73736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2514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600" b="1">
                <a:solidFill>
                  <a:srgbClr val="3FB950"/>
                </a:solidFill>
                <a:latin typeface="Helvetica Neue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7180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9AA8B6"/>
                </a:solidFill>
                <a:latin typeface="Helvetica Neue"/>
              </a:rPr>
              <a:t>casos executados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73736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965960"/>
            <a:ext cx="2514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600" b="1">
                <a:solidFill>
                  <a:srgbClr val="3FB950"/>
                </a:solidFill>
                <a:latin typeface="Helvetica Neue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97180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9AA8B6"/>
                </a:solidFill>
                <a:latin typeface="Helvetica Neue"/>
              </a:rPr>
              <a:t>taxa de sucesso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3736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965960"/>
            <a:ext cx="2514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600" b="1">
                <a:solidFill>
                  <a:srgbClr val="3FB950"/>
                </a:solidFill>
                <a:latin typeface="Helvetica Neue"/>
              </a:rPr>
              <a:t>0,79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97180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9AA8B6"/>
                </a:solidFill>
                <a:latin typeface="Helvetica Neue"/>
              </a:rPr>
              <a:t>tempo total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73736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1965960"/>
            <a:ext cx="2514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600" b="1">
                <a:solidFill>
                  <a:srgbClr val="3FB950"/>
                </a:solidFill>
                <a:latin typeface="Helvetica Neue"/>
              </a:rPr>
              <a:t>55%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97180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9AA8B6"/>
                </a:solidFill>
                <a:latin typeface="Helvetica Neue"/>
              </a:rPr>
              <a:t>cobertura do core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840480"/>
            <a:ext cx="10515600" cy="2423160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0233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3FB950"/>
                </a:solidFill>
                <a:latin typeface="Helvetica Neue"/>
              </a:rPr>
              <a:t>Cobertura por requisito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434840"/>
            <a:ext cx="10058400" cy="18288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E6EDF3"/>
                </a:solidFill>
                <a:latin typeface="Helvetica Neue"/>
              </a:rPr>
              <a:t>•  RF-04 (produtos)  ·  RF-05 (NDVI)  ·  RF-06 (EVI)  ·  RF-10 (stats)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E6EDF3"/>
                </a:solidFill>
                <a:latin typeface="Helvetica Neue"/>
              </a:rPr>
              <a:t>•  RF-11 (histograma)  ·  RF-20 (health)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E6EDF3"/>
                </a:solidFill>
                <a:latin typeface="Helvetica Neue"/>
              </a:rPr>
              <a:t>•  RNF-04 (confiabilidade)  ·  RNF-05 (manutenibilidade)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E6EDF3"/>
                </a:solidFill>
                <a:latin typeface="Helvetica Neue"/>
              </a:rPr>
              <a:t>•  Validação Pydantic exercitada com payloads inválidos (HTTP 422)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6"/>
                </a:solidFill>
                <a:latin typeface="Helvetica Neue"/>
              </a:rPr>
              <a:t>ICEV Remote Sensing Software · P2 Engenharia de Software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8B6"/>
                </a:solidFill>
                <a:latin typeface="Helvetica Neue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164592" cy="4572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3FB950"/>
                </a:solidFill>
                <a:latin typeface="Helvetica Neue"/>
              </a:rPr>
              <a:t>O QUE NÃO ESTÁ NO MVP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Helvetica Neue"/>
              </a:rPr>
              <a:t>Limitações conhecidas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91640"/>
            <a:ext cx="10515600" cy="777240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83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3FB950"/>
                </a:solidFill>
                <a:latin typeface="Helvetica Neue"/>
              </a:rPr>
              <a:t>Sem persistência de 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031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8B6"/>
                </a:solidFill>
                <a:latin typeface="Helvetica Neue"/>
              </a:rPr>
              <a:t>talhões desenhados são perdidos ao recarregar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560320"/>
            <a:ext cx="10515600" cy="777240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651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3FB950"/>
                </a:solidFill>
                <a:latin typeface="Helvetica Neue"/>
              </a:rPr>
              <a:t>Classificação supervisionada simulada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9718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8B6"/>
                </a:solidFill>
                <a:latin typeface="Helvetica Neue"/>
              </a:rPr>
              <a:t>não usa modelo treinado real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429000"/>
            <a:ext cx="10515600" cy="777240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5204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3FB950"/>
                </a:solidFill>
                <a:latin typeface="Helvetica Neue"/>
              </a:rPr>
              <a:t>Imagens Sentinel-2 baixadas manualmente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840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8B6"/>
                </a:solidFill>
                <a:latin typeface="Helvetica Neue"/>
              </a:rPr>
              <a:t>sem download automático via API Copernicus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297680"/>
            <a:ext cx="10515600" cy="777240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3891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3FB950"/>
                </a:solidFill>
                <a:latin typeface="Helvetica Neue"/>
              </a:rPr>
              <a:t>Single-user em localhost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709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8B6"/>
                </a:solidFill>
                <a:latin typeface="Helvetica Neue"/>
              </a:rPr>
              <a:t>sem autenticação ou multi-tenancy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5166360"/>
            <a:ext cx="10515600" cy="777240"/>
          </a:xfrm>
          <a:prstGeom prst="roundRect">
            <a:avLst>
              <a:gd name="adj" fmla="val 4000"/>
            </a:avLst>
          </a:prstGeom>
          <a:solidFill>
            <a:srgbClr val="18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2578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3FB950"/>
                </a:solidFill>
                <a:latin typeface="Helvetica Neue"/>
              </a:rPr>
              <a:t>Cobertura de I/O limitada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5778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8B6"/>
                </a:solidFill>
                <a:latin typeface="Helvetica Neue"/>
              </a:rPr>
              <a:t>read_band/crop dependem de .SAFE real → testes manuais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6"/>
                </a:solidFill>
                <a:latin typeface="Helvetica Neue"/>
              </a:rPr>
              <a:t>ICEV Remote Sensing Software · P2 Engenharia de Software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8B6"/>
                </a:solidFill>
                <a:latin typeface="Helvetica Neue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164592" cy="4572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3FB950"/>
                </a:solidFill>
                <a:latin typeface="Helvetica Neue"/>
              </a:rPr>
              <a:t>ROADMAP PÓS-MVP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Helvetica Neue"/>
              </a:rPr>
              <a:t>Próximos passos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515600" cy="45720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  <a:latin typeface="Helvetica Neue"/>
              </a:rPr>
              <a:t>•  Integração com a API do Copernicus (download automático)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  <a:latin typeface="Helvetica Neue"/>
              </a:rPr>
              <a:t>•  Persistência via SQLite ou PostgreSQL/PostGIS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  <a:latin typeface="Helvetica Neue"/>
              </a:rPr>
              <a:t>•  Modelo Random Forest treinado para classificação supervisionada real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  <a:latin typeface="Helvetica Neue"/>
              </a:rPr>
              <a:t>•  Exportação dos resultados em GeoTIFF / Shapefile / CSV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  <a:latin typeface="Helvetica Neue"/>
              </a:rPr>
              <a:t>•  Comparação temporal (multi-data) lado a lado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  <a:latin typeface="Helvetica Neue"/>
              </a:rPr>
              <a:t>•  Aplicação web hospedada (multi-usuário, autenticação)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  <a:latin typeface="Helvetica Neue"/>
              </a:rPr>
              <a:t>•  Pipeline CI com pytest + GitHub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6"/>
                </a:solidFill>
                <a:latin typeface="Helvetica Neue"/>
              </a:rPr>
              <a:t>ICEV Remote Sensing Software · P2 Engenharia de Software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8B6"/>
                </a:solidFill>
                <a:latin typeface="Helvetica Neue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60320"/>
            <a:ext cx="164592" cy="18288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468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3FB950"/>
                </a:solidFill>
                <a:latin typeface="Helvetica Neue"/>
              </a:rPr>
              <a:t>OBRIGADO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2608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E6EDF3"/>
                </a:solidFill>
                <a:latin typeface="Helvetica Neue"/>
              </a:rPr>
              <a:t>Perguntas e demonstração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0233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A8B6"/>
                </a:solidFill>
                <a:latin typeface="Helvetica Neue"/>
              </a:rPr>
              <a:t>github.com / icev-remote-sensing-software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120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3FB950"/>
                </a:solidFill>
                <a:latin typeface="Helvetica Neue"/>
              </a:rPr>
              <a:t>ENTREGÁVEIS DA P2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4406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E6EDF3"/>
                </a:solidFill>
                <a:latin typeface="Helvetica Neue"/>
              </a:rPr>
              <a:t>MVP funcional · Plano e relatório de testes · Manual do usuário · Documentação técnica · Apresentação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